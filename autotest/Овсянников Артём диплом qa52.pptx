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71" r:id="rId13"/>
    <p:sldId id="270" r:id="rId14"/>
  </p:sldIdLst>
  <p:sldSz cx="9144000" cy="5143500" type="screen16x9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</p:showPr>
  <p:clrMru>
    <a:srgbClr val="00CC66"/>
    <a:srgbClr val="0099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55" autoAdjust="0"/>
    <p:restoredTop sz="94659" autoAdjust="0"/>
  </p:normalViewPr>
  <p:slideViewPr>
    <p:cSldViewPr>
      <p:cViewPr>
        <p:scale>
          <a:sx n="125" d="100"/>
          <a:sy n="125" d="100"/>
        </p:scale>
        <p:origin x="-594" y="-4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2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0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8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На этом слайде представлены четыре чек-листа, которые охватывают ключевые аспекты тестирования двух модулей: главной страницы и формы оплаты. Первые два пункта относятся к главной странице, проверяя отображение и функциональность. Последние два — к форме оплаты, фокусируясь на интерфейсе и обработке ошибок. Эти чек-листы позволяют системно подойти к проверке пользовательского пути.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Все тест-кейсы имеют от 7 до 10 шагов, покрывают ключевые сценарии пользовательского пути.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Рассказать, что тесты покрывают основные этапы пути, а Allure помогает быстро находить проблемы.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Показать скриншот с перекрытием. Подчеркнуть, что баг воспроизводится только на малых экранах, что указывает на недостаточную адаптивность. Отметить, что исправление требует изменения обработки фокуса и прокрутки.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Показать скриншот с перекрытием. Подчеркнуть, что баг воспроизводится только на малых экранах, что указывает на недостаточную адаптивность. Отметить, что исправление требует изменения обработки фокуса и прокрутки.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486400" cy="3600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000" smtClean="0">
                <a:solidFill>
                  <a:srgbClr val="000000"/>
                </a:solidFill>
              </a:rPr>
              <a:t>Благодарю за внимание! Готов ответить на ваши вопросы по теме сквозного тестирования пользовательского пути.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Arial" charset="0"/>
        </a:defRPr>
      </a:lvl9pPr>
      <a:extLst/>
    </p:titleStyle>
    <p:bodyStyle>
      <a:lvl1pPr marL="342900" indent="-685800" algn="ctr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ape"/>
          <p:cNvSpPr txBox="1">
            <a:spLocks noChangeArrowheads="1"/>
          </p:cNvSpPr>
          <p:nvPr/>
        </p:nvSpPr>
        <p:spPr bwMode="auto">
          <a:xfrm>
            <a:off x="323850" y="842963"/>
            <a:ext cx="58959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 b="1">
                <a:solidFill>
                  <a:schemeClr val="bg1"/>
                </a:solidFill>
              </a:rPr>
              <a:t>Тестирование ключевых пользовательских сценариев в сервисе «Яндекс Лавка»</a:t>
            </a:r>
            <a:r>
              <a:rPr lang="ru-RU">
                <a:solidFill>
                  <a:schemeClr val="bg1"/>
                </a:solidFill>
              </a:rPr>
              <a:t>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100" name="Shape"/>
          <p:cNvSpPr txBox="1">
            <a:spLocks noChangeArrowheads="1"/>
          </p:cNvSpPr>
          <p:nvPr/>
        </p:nvSpPr>
        <p:spPr bwMode="auto">
          <a:xfrm>
            <a:off x="323850" y="2139950"/>
            <a:ext cx="56165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>
                <a:solidFill>
                  <a:schemeClr val="bg1"/>
                </a:solidFill>
              </a:rPr>
              <a:t>ВЫПУСКНАЯ КВАЛИФИКАЦИОННАЯ РАБОТА Тестирование ключевых пользовательских сценариев в сервисе «Яндекс Лавка» </a:t>
            </a:r>
          </a:p>
          <a:p>
            <a:pPr fontAlgn="t"/>
            <a:r>
              <a:rPr lang="ru-RU">
                <a:solidFill>
                  <a:schemeClr val="bg1"/>
                </a:solidFill>
              </a:rPr>
              <a:t>Выполнил: Овсянников Артём </a:t>
            </a:r>
          </a:p>
          <a:p>
            <a:pPr fontAlgn="t"/>
            <a:r>
              <a:rPr lang="ru-RU">
                <a:solidFill>
                  <a:schemeClr val="bg1"/>
                </a:solidFill>
              </a:rPr>
              <a:t>Группа: QA52 </a:t>
            </a:r>
          </a:p>
          <a:p>
            <a:pPr fontAlgn="t"/>
            <a:r>
              <a:rPr lang="ru-RU">
                <a:solidFill>
                  <a:schemeClr val="bg1"/>
                </a:solidFill>
              </a:rPr>
              <a:t>Направление: Тестирование ПО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102" name="Picture 6" descr="731677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700088"/>
            <a:ext cx="22860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"/>
          <p:cNvSpPr txBox="1">
            <a:spLocks noChangeArrowheads="1"/>
          </p:cNvSpPr>
          <p:nvPr/>
        </p:nvSpPr>
        <p:spPr bwMode="auto">
          <a:xfrm>
            <a:off x="107950" y="123825"/>
            <a:ext cx="9036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2000" b="1">
                <a:solidFill>
                  <a:srgbClr val="F1F5F9"/>
                </a:solidFill>
                <a:latin typeface="Inter"/>
              </a:rPr>
              <a:t>Актуальность и значимость тестирования</a:t>
            </a:r>
            <a:endParaRPr lang="ru-RU" sz="2000" b="1">
              <a:solidFill>
                <a:srgbClr val="F1F5F9"/>
              </a:solidFill>
              <a:latin typeface="Inter"/>
            </a:endParaRPr>
          </a:p>
          <a:p>
            <a:pPr fontAlgn="t"/>
            <a:endParaRPr lang="en-US" sz="2000" b="1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6150" name="Picture 6" descr="2026-09-05_17-04-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700088"/>
            <a:ext cx="5400675" cy="3365500"/>
          </a:xfrm>
          <a:prstGeom prst="rect">
            <a:avLst/>
          </a:prstGeom>
          <a:noFill/>
        </p:spPr>
      </p:pic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5688013" y="915988"/>
            <a:ext cx="34559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• Главная страница — точка входа пользователя в сервис</a:t>
            </a:r>
            <a:br>
              <a:rPr lang="fr-FR">
                <a:solidFill>
                  <a:schemeClr val="bg1"/>
                </a:solidFill>
              </a:rPr>
            </a:br>
            <a:r>
              <a:rPr lang="fr-FR">
                <a:solidFill>
                  <a:schemeClr val="bg1"/>
                </a:solidFill>
              </a:rPr>
              <a:t>• Здесь происходит поиск, выбор товаров и добавление в корзину</a:t>
            </a:r>
            <a:br>
              <a:rPr lang="fr-FR">
                <a:solidFill>
                  <a:schemeClr val="bg1"/>
                </a:solidFill>
              </a:rPr>
            </a:br>
            <a:r>
              <a:rPr lang="fr-FR">
                <a:solidFill>
                  <a:schemeClr val="bg1"/>
                </a:solidFill>
              </a:rPr>
              <a:t>• От удобства навигации зависит, продолжит ли пользователь покупку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"/>
          <p:cNvSpPr txBox="1">
            <a:spLocks noChangeArrowheads="1"/>
          </p:cNvSpPr>
          <p:nvPr/>
        </p:nvSpPr>
        <p:spPr bwMode="auto">
          <a:xfrm>
            <a:off x="466725" y="466725"/>
            <a:ext cx="828198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3500" b="1">
                <a:solidFill>
                  <a:srgbClr val="F1F5F9"/>
                </a:solidFill>
                <a:latin typeface="Inter"/>
              </a:rPr>
              <a:t>Объект и предмет исследования</a:t>
            </a:r>
          </a:p>
        </p:txBody>
      </p:sp>
      <p:pic>
        <p:nvPicPr>
          <p:cNvPr id="8289" name="Picture 97" descr="5v1zp3QzI3souBUxjot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427288"/>
            <a:ext cx="1500187" cy="1500187"/>
          </a:xfrm>
          <a:prstGeom prst="rect">
            <a:avLst/>
          </a:prstGeom>
          <a:noFill/>
        </p:spPr>
      </p:pic>
      <p:pic>
        <p:nvPicPr>
          <p:cNvPr id="8292" name="Picture 100" descr="2026-09-05_17-50-5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188" y="1347788"/>
            <a:ext cx="2840037" cy="552450"/>
          </a:xfrm>
          <a:prstGeom prst="rect">
            <a:avLst/>
          </a:prstGeom>
          <a:noFill/>
        </p:spPr>
      </p:pic>
      <p:pic>
        <p:nvPicPr>
          <p:cNvPr id="8293" name="Picture 101" descr="2026-09-05_17-51-2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79838" y="1131888"/>
            <a:ext cx="3148012" cy="3346450"/>
          </a:xfrm>
          <a:prstGeom prst="rect">
            <a:avLst/>
          </a:prstGeom>
          <a:noFill/>
        </p:spPr>
      </p:pic>
      <p:pic>
        <p:nvPicPr>
          <p:cNvPr id="8294" name="Picture 102" descr="2026-09-05_17-52-0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35825" y="1203325"/>
            <a:ext cx="1366838" cy="3355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"/>
          <p:cNvSpPr txBox="1">
            <a:spLocks noChangeArrowheads="1"/>
          </p:cNvSpPr>
          <p:nvPr/>
        </p:nvSpPr>
        <p:spPr bwMode="auto">
          <a:xfrm>
            <a:off x="466725" y="466725"/>
            <a:ext cx="60864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3500" b="1">
                <a:solidFill>
                  <a:srgbClr val="F1F5F9"/>
                </a:solidFill>
                <a:latin typeface="Inter"/>
              </a:rPr>
              <a:t>Цели и задачи тестирования</a:t>
            </a:r>
          </a:p>
        </p:txBody>
      </p:sp>
      <p:sp>
        <p:nvSpPr>
          <p:cNvPr id="10243" name="Shape"/>
          <p:cNvSpPr txBox="1">
            <a:spLocks noChangeArrowheads="1"/>
          </p:cNvSpPr>
          <p:nvPr/>
        </p:nvSpPr>
        <p:spPr bwMode="auto">
          <a:xfrm>
            <a:off x="419100" y="18669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1300" b="1">
                <a:solidFill>
                  <a:srgbClr val="F1F5F9"/>
                </a:solidFill>
                <a:latin typeface="Inter"/>
              </a:rPr>
              <a:t>1. Обеспечение стабильности и конверсии</a:t>
            </a:r>
          </a:p>
        </p:txBody>
      </p:sp>
      <p:sp>
        <p:nvSpPr>
          <p:cNvPr id="10245" name="Shape"/>
          <p:cNvSpPr txBox="1">
            <a:spLocks noChangeArrowheads="1"/>
          </p:cNvSpPr>
          <p:nvPr/>
        </p:nvSpPr>
        <p:spPr bwMode="auto">
          <a:xfrm>
            <a:off x="395288" y="2211388"/>
            <a:ext cx="38862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1300" b="1">
                <a:solidFill>
                  <a:srgbClr val="F1F5F9"/>
                </a:solidFill>
                <a:latin typeface="Inter"/>
              </a:rPr>
              <a:t>2. Функциональное тестирование навигации</a:t>
            </a:r>
          </a:p>
        </p:txBody>
      </p:sp>
      <p:sp>
        <p:nvSpPr>
          <p:cNvPr id="10247" name="Shape"/>
          <p:cNvSpPr txBox="1">
            <a:spLocks noChangeArrowheads="1"/>
          </p:cNvSpPr>
          <p:nvPr/>
        </p:nvSpPr>
        <p:spPr bwMode="auto">
          <a:xfrm>
            <a:off x="395288" y="2571750"/>
            <a:ext cx="38862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1300" b="1">
                <a:solidFill>
                  <a:srgbClr val="F1F5F9"/>
                </a:solidFill>
                <a:latin typeface="Inter"/>
              </a:rPr>
              <a:t>3. Проверка сценариев оплаты</a:t>
            </a:r>
          </a:p>
        </p:txBody>
      </p:sp>
      <p:pic>
        <p:nvPicPr>
          <p:cNvPr id="10251" name="Picture 11" descr="2026-09-05_17-09-4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9338" y="627063"/>
            <a:ext cx="3743325" cy="37242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hape"/>
          <p:cNvSpPr txBox="1">
            <a:spLocks noChangeArrowheads="1"/>
          </p:cNvSpPr>
          <p:nvPr/>
        </p:nvSpPr>
        <p:spPr bwMode="auto">
          <a:xfrm>
            <a:off x="1619250" y="627063"/>
            <a:ext cx="59055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 sz="2800" b="1">
                <a:solidFill>
                  <a:srgbClr val="F1F5F9"/>
                </a:solidFill>
                <a:latin typeface="Inter"/>
              </a:rPr>
              <a:t>И</a:t>
            </a:r>
            <a:r>
              <a:rPr lang="en-US" sz="2800" b="1">
                <a:solidFill>
                  <a:srgbClr val="F1F5F9"/>
                </a:solidFill>
                <a:latin typeface="Inter"/>
              </a:rPr>
              <a:t>нструменты</a:t>
            </a:r>
            <a:r>
              <a:rPr lang="ru-RU" sz="2800" b="1">
                <a:solidFill>
                  <a:srgbClr val="F1F5F9"/>
                </a:solidFill>
                <a:latin typeface="Inter"/>
              </a:rPr>
              <a:t> тестирования</a:t>
            </a:r>
            <a:endParaRPr lang="en-US" sz="2800" b="1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12294" name="Picture 6" descr="9ba1834afe48501cb624ff59355942c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3219450"/>
            <a:ext cx="865187" cy="865188"/>
          </a:xfrm>
          <a:prstGeom prst="rect">
            <a:avLst/>
          </a:prstGeom>
          <a:noFill/>
        </p:spPr>
      </p:pic>
      <p:pic>
        <p:nvPicPr>
          <p:cNvPr id="12298" name="Picture 10" descr="9fff49acd5444f759b17273f5463dea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31913" y="1778000"/>
            <a:ext cx="1152525" cy="1152525"/>
          </a:xfrm>
          <a:prstGeom prst="rect">
            <a:avLst/>
          </a:prstGeom>
          <a:noFill/>
        </p:spPr>
      </p:pic>
      <p:pic>
        <p:nvPicPr>
          <p:cNvPr id="12300" name="Picture 12" descr="2026-09-05_19-11-5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00338" y="1851025"/>
            <a:ext cx="1008062" cy="863600"/>
          </a:xfrm>
          <a:prstGeom prst="rect">
            <a:avLst/>
          </a:prstGeom>
          <a:noFill/>
        </p:spPr>
      </p:pic>
      <p:pic>
        <p:nvPicPr>
          <p:cNvPr id="12301" name="Picture 13" descr="2026-09-05_19-19-0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79838" y="2500313"/>
            <a:ext cx="1647825" cy="504825"/>
          </a:xfrm>
          <a:prstGeom prst="rect">
            <a:avLst/>
          </a:prstGeom>
          <a:noFill/>
        </p:spPr>
      </p:pic>
      <p:pic>
        <p:nvPicPr>
          <p:cNvPr id="12303" name="Picture 15" descr="2026-09-05_19-20-0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55875" y="3219450"/>
            <a:ext cx="1655763" cy="631825"/>
          </a:xfrm>
          <a:prstGeom prst="rect">
            <a:avLst/>
          </a:prstGeom>
          <a:noFill/>
        </p:spPr>
      </p:pic>
      <p:pic>
        <p:nvPicPr>
          <p:cNvPr id="12305" name="Picture 17" descr="2026-09-05_19-25-3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019925" y="2355850"/>
            <a:ext cx="1439863" cy="968375"/>
          </a:xfrm>
          <a:prstGeom prst="rect">
            <a:avLst/>
          </a:prstGeom>
          <a:noFill/>
        </p:spPr>
      </p:pic>
      <p:pic>
        <p:nvPicPr>
          <p:cNvPr id="12308" name="Picture 20" descr="2026-09-06_10-02-2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740650" y="1131888"/>
            <a:ext cx="1079500" cy="1019175"/>
          </a:xfrm>
          <a:prstGeom prst="rect">
            <a:avLst/>
          </a:prstGeom>
          <a:noFill/>
        </p:spPr>
      </p:pic>
      <p:pic>
        <p:nvPicPr>
          <p:cNvPr id="12309" name="Picture 21" descr="2026-09-06_10-03-5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300788" y="1131888"/>
            <a:ext cx="1296987" cy="1114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"/>
          <p:cNvSpPr txBox="1">
            <a:spLocks noChangeArrowheads="1"/>
          </p:cNvSpPr>
          <p:nvPr/>
        </p:nvSpPr>
        <p:spPr bwMode="auto">
          <a:xfrm>
            <a:off x="466725" y="352425"/>
            <a:ext cx="7993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2300" b="1">
                <a:solidFill>
                  <a:srgbClr val="F1F5F9"/>
                </a:solidFill>
                <a:latin typeface="Inter"/>
              </a:rPr>
              <a:t>Функциональное тестирование:</a:t>
            </a:r>
            <a:r>
              <a:rPr lang="ru-RU" sz="2300" b="1">
                <a:solidFill>
                  <a:srgbClr val="F1F5F9"/>
                </a:solidFill>
                <a:latin typeface="Inter"/>
              </a:rPr>
              <a:t> Проверка поля поиска товара.</a:t>
            </a:r>
            <a:endParaRPr lang="en-US" sz="2300" b="1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14377" name="Picture 41" descr="2026-09-06_14-11-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1347788"/>
            <a:ext cx="3324225" cy="542925"/>
          </a:xfrm>
          <a:prstGeom prst="rect">
            <a:avLst/>
          </a:prstGeom>
          <a:noFill/>
        </p:spPr>
      </p:pic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11188" y="2370138"/>
            <a:ext cx="3313112" cy="549275"/>
          </a:xfrm>
          <a:prstGeom prst="rect">
            <a:avLst/>
          </a:prstGeom>
          <a:solidFill>
            <a:srgbClr val="00CC66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r>
              <a:rPr lang="fr-FR"/>
              <a:t>Поиск по точному совпадению ✅ Пройдено </a:t>
            </a:r>
          </a:p>
        </p:txBody>
      </p:sp>
      <p:sp>
        <p:nvSpPr>
          <p:cNvPr id="14379" name="Rectangle 43"/>
          <p:cNvSpPr>
            <a:spLocks noChangeArrowheads="1"/>
          </p:cNvSpPr>
          <p:nvPr/>
        </p:nvSpPr>
        <p:spPr bwMode="auto">
          <a:xfrm>
            <a:off x="395288" y="3003550"/>
            <a:ext cx="3527425" cy="6413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/>
              <a:t>Поиск с ошибками — требуется доработка </a:t>
            </a:r>
          </a:p>
        </p:txBody>
      </p:sp>
      <p:sp>
        <p:nvSpPr>
          <p:cNvPr id="14380" name="Rectangle 44"/>
          <p:cNvSpPr>
            <a:spLocks noChangeArrowheads="1"/>
          </p:cNvSpPr>
          <p:nvPr/>
        </p:nvSpPr>
        <p:spPr bwMode="auto">
          <a:xfrm>
            <a:off x="468313" y="3795713"/>
            <a:ext cx="3529012" cy="6413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/>
              <a:t>Пустой запрос — требуется доработка </a:t>
            </a:r>
          </a:p>
        </p:txBody>
      </p:sp>
      <p:sp>
        <p:nvSpPr>
          <p:cNvPr id="14381" name="Rectangle 45"/>
          <p:cNvSpPr>
            <a:spLocks noChangeArrowheads="1"/>
          </p:cNvSpPr>
          <p:nvPr/>
        </p:nvSpPr>
        <p:spPr bwMode="auto">
          <a:xfrm>
            <a:off x="4140200" y="1419225"/>
            <a:ext cx="2127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/>
              <a:t>Входные данные</a:t>
            </a:r>
            <a:r>
              <a:rPr lang="ru-RU"/>
              <a:t>:</a:t>
            </a:r>
            <a:r>
              <a:rPr lang="fr-FR"/>
              <a:t> </a:t>
            </a:r>
          </a:p>
        </p:txBody>
      </p:sp>
      <p:sp>
        <p:nvSpPr>
          <p:cNvPr id="14382" name="Rectangle 46"/>
          <p:cNvSpPr>
            <a:spLocks noChangeArrowheads="1"/>
          </p:cNvSpPr>
          <p:nvPr/>
        </p:nvSpPr>
        <p:spPr bwMode="auto">
          <a:xfrm>
            <a:off x="4211638" y="2284413"/>
            <a:ext cx="18573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/>
              <a:t>«молоко 2,5%» </a:t>
            </a:r>
          </a:p>
        </p:txBody>
      </p:sp>
      <p:sp>
        <p:nvSpPr>
          <p:cNvPr id="14383" name="Rectangle 47"/>
          <p:cNvSpPr>
            <a:spLocks noChangeArrowheads="1"/>
          </p:cNvSpPr>
          <p:nvPr/>
        </p:nvSpPr>
        <p:spPr bwMode="auto">
          <a:xfrm>
            <a:off x="6227763" y="1419225"/>
            <a:ext cx="266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/>
              <a:t>Ожидаемый результат 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156325" y="2147888"/>
            <a:ext cx="3135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/>
              <a:t>Товар отображается в результатах 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4284663" y="3148013"/>
            <a:ext cx="1246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/>
              <a:t>«молкок» 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5940425" y="3003550"/>
            <a:ext cx="3076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/>
              <a:t>Предложено исправление или похожие товары 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4500563" y="3940175"/>
            <a:ext cx="984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/>
              <a:t>(пусто) 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5867400" y="3795713"/>
            <a:ext cx="2908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fr-FR"/>
              <a:t>Сообщение «Введите запрос» или каталог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"/>
          <p:cNvSpPr txBox="1">
            <a:spLocks noChangeArrowheads="1"/>
          </p:cNvSpPr>
          <p:nvPr/>
        </p:nvSpPr>
        <p:spPr bwMode="auto">
          <a:xfrm>
            <a:off x="466725" y="466725"/>
            <a:ext cx="79216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3100" b="1">
                <a:solidFill>
                  <a:srgbClr val="F1F5F9"/>
                </a:solidFill>
                <a:latin typeface="Inter"/>
              </a:rPr>
              <a:t>UI/UX-тестирование: ключевые аспекты</a:t>
            </a: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0" y="1347788"/>
            <a:ext cx="1828800" cy="2908300"/>
          </a:xfrm>
          <a:prstGeom prst="rect">
            <a:avLst/>
          </a:prstGeom>
          <a:solidFill>
            <a:srgbClr val="00CC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lIns="0" tIns="76176" rIns="0" bIns="76176" anchor="ctr">
            <a:spAutoFit/>
          </a:bodyPr>
          <a:lstStyle/>
          <a:p>
            <a:pPr algn="ctr"/>
            <a:r>
              <a:rPr lang="fr-FR" b="1">
                <a:solidFill>
                  <a:schemeClr val="bg1"/>
                </a:solidFill>
              </a:rPr>
              <a:t> УЛУЧШЕННЫЙ КАТАЛОГ</a:t>
            </a:r>
            <a:endParaRPr lang="fr-FR">
              <a:solidFill>
                <a:schemeClr val="bg1"/>
              </a:solidFill>
            </a:endParaRPr>
          </a:p>
          <a:p>
            <a:pPr algn="ctr"/>
            <a:r>
              <a:rPr lang="fr-FR" b="1">
                <a:solidFill>
                  <a:schemeClr val="bg1"/>
                </a:solidFill>
              </a:rPr>
              <a:t> ПРОДУКТЫ</a:t>
            </a:r>
            <a:endParaRPr lang="fr-FR">
              <a:solidFill>
                <a:schemeClr val="bg1"/>
              </a:solidFill>
            </a:endParaRPr>
          </a:p>
          <a:p>
            <a:pPr algn="ctr"/>
            <a:r>
              <a:rPr lang="fr-FR">
                <a:solidFill>
                  <a:schemeClr val="bg1"/>
                </a:solidFill>
              </a:rPr>
              <a:t>Овощной прилавок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Молочный прилавок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Булочная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Бакалея</a:t>
            </a:r>
          </a:p>
          <a:p>
            <a:pPr algn="ctr" eaLnBrk="0" hangingPunct="0"/>
            <a:endParaRPr lang="fr-FR">
              <a:solidFill>
                <a:schemeClr val="bg1"/>
              </a:solidFill>
            </a:endParaRPr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1835150" y="1347788"/>
            <a:ext cx="2989263" cy="1525587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76176" rIns="0" bIns="76176" anchor="ctr">
            <a:spAutoFit/>
          </a:bodyPr>
          <a:lstStyle/>
          <a:p>
            <a:pPr algn="ctr"/>
            <a:r>
              <a:rPr lang="fr-FR" b="1"/>
              <a:t>🍔 ГОТОВАЯ ЕДА</a:t>
            </a:r>
            <a:endParaRPr lang="fr-FR"/>
          </a:p>
          <a:p>
            <a:pPr algn="ctr"/>
            <a:r>
              <a:rPr lang="fr-FR"/>
              <a:t>Готовая еда</a:t>
            </a:r>
          </a:p>
          <a:p>
            <a:pPr algn="ctr"/>
            <a:r>
              <a:rPr lang="fr-FR"/>
              <a:t>Сбалансированное питание</a:t>
            </a:r>
          </a:p>
          <a:p>
            <a:pPr algn="ctr"/>
            <a:r>
              <a:rPr lang="fr-FR"/>
              <a:t>Сладкое и снеки</a:t>
            </a:r>
          </a:p>
          <a:p>
            <a:pPr algn="ctr" eaLnBrk="0" hangingPunct="0"/>
            <a:endParaRPr lang="fr-FR"/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1835150" y="2859088"/>
            <a:ext cx="2592388" cy="1800225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 anchor="ctr">
            <a:spAutoFit/>
          </a:bodyPr>
          <a:lstStyle/>
          <a:p>
            <a:pPr algn="ctr"/>
            <a:r>
              <a:rPr lang="fr-FR" b="1"/>
              <a:t>ДЛЯ ДОМА</a:t>
            </a:r>
            <a:endParaRPr lang="fr-FR"/>
          </a:p>
          <a:p>
            <a:pPr algn="ctr"/>
            <a:r>
              <a:rPr lang="fr-FR"/>
              <a:t>Мясо, птица, рыба</a:t>
            </a:r>
          </a:p>
          <a:p>
            <a:pPr algn="ctr"/>
            <a:r>
              <a:rPr lang="fr-FR"/>
              <a:t>Заморозка</a:t>
            </a:r>
          </a:p>
          <a:p>
            <a:pPr algn="ctr"/>
            <a:r>
              <a:rPr lang="fr-FR"/>
              <a:t>Вода и напитки</a:t>
            </a:r>
          </a:p>
          <a:p>
            <a:pPr algn="ctr"/>
            <a:r>
              <a:rPr lang="fr-FR"/>
              <a:t>Для детей</a:t>
            </a:r>
          </a:p>
          <a:p>
            <a:pPr algn="ctr" eaLnBrk="0" hangingPunct="0"/>
            <a:endParaRPr lang="fr-FR"/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4859338" y="1492250"/>
            <a:ext cx="1587500" cy="1525588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76176" rIns="0" bIns="76176" anchor="ctr">
            <a:spAutoFit/>
          </a:bodyPr>
          <a:lstStyle/>
          <a:p>
            <a:pPr algn="ctr"/>
            <a:r>
              <a:rPr lang="fr-FR" b="1"/>
              <a:t>ИНТЕРЕСНОЕ</a:t>
            </a:r>
            <a:endParaRPr lang="fr-FR"/>
          </a:p>
          <a:p>
            <a:pPr algn="ctr"/>
            <a:r>
              <a:rPr lang="fr-FR"/>
              <a:t>Новинки</a:t>
            </a:r>
          </a:p>
          <a:p>
            <a:pPr algn="ctr"/>
            <a:r>
              <a:rPr lang="fr-FR"/>
              <a:t>Избранное</a:t>
            </a:r>
          </a:p>
          <a:p>
            <a:pPr algn="ctr"/>
            <a:r>
              <a:rPr lang="fr-FR"/>
              <a:t>Рецепты</a:t>
            </a:r>
          </a:p>
          <a:p>
            <a:pPr algn="ctr" eaLnBrk="0" hangingPunct="0"/>
            <a:endParaRPr lang="fr-FR"/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4427538" y="3003550"/>
            <a:ext cx="1165225" cy="125095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76176" rIns="0" bIns="76176" anchor="ctr">
            <a:spAutoFit/>
          </a:bodyPr>
          <a:lstStyle/>
          <a:p>
            <a:pPr algn="ctr"/>
            <a:r>
              <a:rPr lang="fr-FR" b="1"/>
              <a:t>ДРУГОЕ</a:t>
            </a:r>
            <a:endParaRPr lang="fr-FR"/>
          </a:p>
          <a:p>
            <a:pPr algn="ctr"/>
            <a:r>
              <a:rPr lang="fr-FR"/>
              <a:t>Аптека</a:t>
            </a:r>
          </a:p>
          <a:p>
            <a:pPr algn="ctr"/>
            <a:r>
              <a:rPr lang="fr-FR"/>
              <a:t>Зоотовары</a:t>
            </a:r>
          </a:p>
          <a:p>
            <a:pPr algn="ctr" eaLnBrk="0" hangingPunct="0"/>
            <a:endParaRPr lang="fr-FR"/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6732588" y="1924050"/>
            <a:ext cx="208915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/>
              <a:t> </a:t>
            </a:r>
            <a:r>
              <a:rPr lang="fr-FR" b="1">
                <a:solidFill>
                  <a:schemeClr val="bg1"/>
                </a:solidFill>
              </a:rPr>
              <a:t>УЛУЧШЕННЫЙ КАТАЛОГ</a:t>
            </a:r>
            <a:r>
              <a:rPr lang="ru-RU" b="1">
                <a:solidFill>
                  <a:schemeClr val="bg1"/>
                </a:solidFill>
              </a:rPr>
              <a:t>:</a:t>
            </a:r>
            <a:br>
              <a:rPr lang="ru-RU" b="1">
                <a:solidFill>
                  <a:schemeClr val="bg1"/>
                </a:solidFill>
              </a:rPr>
            </a:br>
            <a:r>
              <a:rPr lang="ru-RU" b="1">
                <a:solidFill>
                  <a:schemeClr val="bg1"/>
                </a:solidFill>
              </a:rPr>
              <a:t/>
            </a:r>
            <a:br>
              <a:rPr lang="ru-RU" b="1">
                <a:solidFill>
                  <a:schemeClr val="bg1"/>
                </a:solidFill>
              </a:rPr>
            </a:br>
            <a:r>
              <a:rPr lang="ru-RU" b="1">
                <a:solidFill>
                  <a:schemeClr val="bg1"/>
                </a:solidFill>
              </a:rPr>
              <a:t>Разделение товаров на категории, и группировка по  смыслу</a:t>
            </a:r>
            <a:endParaRPr lang="fr-FR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"/>
          <p:cNvSpPr txBox="1">
            <a:spLocks noChangeArrowheads="1"/>
          </p:cNvSpPr>
          <p:nvPr/>
        </p:nvSpPr>
        <p:spPr bwMode="auto">
          <a:xfrm>
            <a:off x="466725" y="466725"/>
            <a:ext cx="7850188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3200" b="1">
                <a:solidFill>
                  <a:srgbClr val="F1F5F9"/>
                </a:solidFill>
                <a:latin typeface="Inter"/>
              </a:rPr>
              <a:t>Чек-лист:</a:t>
            </a:r>
            <a:r>
              <a:rPr lang="ru-RU" sz="3200" b="1">
                <a:solidFill>
                  <a:srgbClr val="F1F5F9"/>
                </a:solidFill>
                <a:latin typeface="Inter"/>
              </a:rPr>
              <a:t> поиск товара</a:t>
            </a:r>
            <a:endParaRPr lang="en-US" sz="3200" b="1">
              <a:solidFill>
                <a:srgbClr val="F1F5F9"/>
              </a:solidFill>
              <a:latin typeface="Inter"/>
            </a:endParaRPr>
          </a:p>
        </p:txBody>
      </p:sp>
      <p:sp>
        <p:nvSpPr>
          <p:cNvPr id="18435" name="Shape"/>
          <p:cNvSpPr txBox="1">
            <a:spLocks noChangeArrowheads="1"/>
          </p:cNvSpPr>
          <p:nvPr/>
        </p:nvSpPr>
        <p:spPr bwMode="auto">
          <a:xfrm>
            <a:off x="468313" y="1203325"/>
            <a:ext cx="38862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1300" b="1">
                <a:solidFill>
                  <a:srgbClr val="F1F5F9"/>
                </a:solidFill>
                <a:latin typeface="Inter"/>
              </a:rPr>
              <a:t>1. Отображение и доступность элементов</a:t>
            </a:r>
          </a:p>
        </p:txBody>
      </p:sp>
      <p:pic>
        <p:nvPicPr>
          <p:cNvPr id="18443" name="Picture 11" descr="2026-09-06_10-37-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1563688"/>
            <a:ext cx="3240087" cy="447675"/>
          </a:xfrm>
          <a:prstGeom prst="rect">
            <a:avLst/>
          </a:prstGeom>
          <a:noFill/>
        </p:spPr>
      </p:pic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1547813" y="2066925"/>
            <a:ext cx="0" cy="2889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2339975" y="3508375"/>
            <a:ext cx="7191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8448" name="Picture 16" descr="2026-09-06_10-39-5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2427288"/>
            <a:ext cx="1790700" cy="2438400"/>
          </a:xfrm>
          <a:prstGeom prst="rect">
            <a:avLst/>
          </a:prstGeom>
          <a:noFill/>
        </p:spPr>
      </p:pic>
      <p:pic>
        <p:nvPicPr>
          <p:cNvPr id="18450" name="Picture 18" descr="2026-09-06_10-40-4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32138" y="2859088"/>
            <a:ext cx="2943225" cy="1400175"/>
          </a:xfrm>
          <a:prstGeom prst="rect">
            <a:avLst/>
          </a:prstGeom>
          <a:noFill/>
        </p:spPr>
      </p:pic>
      <p:pic>
        <p:nvPicPr>
          <p:cNvPr id="18451" name="Picture 19" descr="2026-09-06_10-40-5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88125" y="3148013"/>
            <a:ext cx="2447925" cy="704850"/>
          </a:xfrm>
          <a:prstGeom prst="rect">
            <a:avLst/>
          </a:prstGeom>
          <a:noFill/>
        </p:spPr>
      </p:pic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6156325" y="3508375"/>
            <a:ext cx="360363" cy="7143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 flipV="1">
            <a:off x="7524750" y="2500313"/>
            <a:ext cx="0" cy="57467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8454" name="Picture 22" descr="2026-09-06_10-41-4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003800" y="1058863"/>
            <a:ext cx="2952750" cy="1403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"/>
          <p:cNvSpPr txBox="1">
            <a:spLocks noChangeArrowheads="1"/>
          </p:cNvSpPr>
          <p:nvPr/>
        </p:nvSpPr>
        <p:spPr bwMode="auto">
          <a:xfrm>
            <a:off x="1763713" y="484188"/>
            <a:ext cx="7129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 sz="3000" b="1">
                <a:solidFill>
                  <a:srgbClr val="F1F5F9"/>
                </a:solidFill>
                <a:latin typeface="Inter"/>
              </a:rPr>
              <a:t>Ручное тестирование:</a:t>
            </a:r>
            <a:endParaRPr lang="en-US" sz="3000" b="1">
              <a:solidFill>
                <a:srgbClr val="F1F5F9"/>
              </a:solidFill>
              <a:latin typeface="Inter"/>
            </a:endParaRP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1835150" y="1492250"/>
            <a:ext cx="4392613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0522" name="Shape"/>
          <p:cNvSpPr txBox="1">
            <a:spLocks noChangeArrowheads="1"/>
          </p:cNvSpPr>
          <p:nvPr/>
        </p:nvSpPr>
        <p:spPr bwMode="auto">
          <a:xfrm>
            <a:off x="2411413" y="1492250"/>
            <a:ext cx="3816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 b="1">
                <a:solidFill>
                  <a:srgbClr val="F1F5F9"/>
                </a:solidFill>
              </a:rPr>
              <a:t>Ручное тестирование:</a:t>
            </a:r>
            <a:endParaRPr lang="en-US" b="1">
              <a:solidFill>
                <a:srgbClr val="F1F5F9"/>
              </a:solidFill>
            </a:endParaRPr>
          </a:p>
        </p:txBody>
      </p:sp>
      <p:sp>
        <p:nvSpPr>
          <p:cNvPr id="20526" name="Rectangle 46"/>
          <p:cNvSpPr>
            <a:spLocks noChangeArrowheads="1"/>
          </p:cNvSpPr>
          <p:nvPr/>
        </p:nvSpPr>
        <p:spPr bwMode="auto">
          <a:xfrm>
            <a:off x="1835150" y="2066925"/>
            <a:ext cx="4392613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0527" name="Rectangle 47"/>
          <p:cNvSpPr>
            <a:spLocks noChangeArrowheads="1"/>
          </p:cNvSpPr>
          <p:nvPr/>
        </p:nvSpPr>
        <p:spPr bwMode="auto">
          <a:xfrm>
            <a:off x="1835150" y="2643188"/>
            <a:ext cx="4392613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t"/>
            <a:r>
              <a:rPr lang="ru-RU" b="1">
                <a:solidFill>
                  <a:srgbClr val="F1F5F9"/>
                </a:solidFill>
              </a:rPr>
              <a:t>Общее кол-во тест-кейсов: 4</a:t>
            </a:r>
            <a:endParaRPr lang="en-US" b="1">
              <a:solidFill>
                <a:srgbClr val="F1F5F9"/>
              </a:solidFill>
            </a:endParaRPr>
          </a:p>
          <a:p>
            <a:pPr algn="ctr"/>
            <a:endParaRPr lang="ru-RU"/>
          </a:p>
        </p:txBody>
      </p:sp>
      <p:sp>
        <p:nvSpPr>
          <p:cNvPr id="20528" name="Shape"/>
          <p:cNvSpPr txBox="1">
            <a:spLocks noChangeArrowheads="1"/>
          </p:cNvSpPr>
          <p:nvPr/>
        </p:nvSpPr>
        <p:spPr bwMode="auto">
          <a:xfrm>
            <a:off x="2411413" y="2139950"/>
            <a:ext cx="3816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ru-RU" b="1">
                <a:solidFill>
                  <a:srgbClr val="F1F5F9"/>
                </a:solidFill>
              </a:rPr>
              <a:t>Общее кол-во чек-листов: 4</a:t>
            </a:r>
            <a:endParaRPr lang="en-US" b="1">
              <a:solidFill>
                <a:srgbClr val="F1F5F9"/>
              </a:solidFill>
            </a:endParaRPr>
          </a:p>
        </p:txBody>
      </p:sp>
      <p:sp>
        <p:nvSpPr>
          <p:cNvPr id="20529" name="Rectangle 49"/>
          <p:cNvSpPr>
            <a:spLocks noChangeArrowheads="1"/>
          </p:cNvSpPr>
          <p:nvPr/>
        </p:nvSpPr>
        <p:spPr bwMode="auto">
          <a:xfrm>
            <a:off x="1835150" y="4011613"/>
            <a:ext cx="4465638" cy="865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t"/>
            <a:r>
              <a:rPr lang="ru-RU" b="1">
                <a:solidFill>
                  <a:srgbClr val="F1F5F9"/>
                </a:solidFill>
              </a:rPr>
              <a:t>Кроссбраузерное тестирование </a:t>
            </a:r>
            <a:endParaRPr lang="en-US" b="1">
              <a:solidFill>
                <a:srgbClr val="F1F5F9"/>
              </a:solidFill>
            </a:endParaRPr>
          </a:p>
          <a:p>
            <a:pPr algn="ctr" fontAlgn="t"/>
            <a:r>
              <a:rPr lang="ru-RU" b="1">
                <a:solidFill>
                  <a:srgbClr val="F1F5F9"/>
                </a:solidFill>
              </a:rPr>
              <a:t>(</a:t>
            </a:r>
            <a:r>
              <a:rPr lang="en-US" b="1">
                <a:solidFill>
                  <a:srgbClr val="F1F5F9"/>
                </a:solidFill>
              </a:rPr>
              <a:t>Google</a:t>
            </a:r>
            <a:r>
              <a:rPr lang="ru-RU" b="1">
                <a:solidFill>
                  <a:srgbClr val="F1F5F9"/>
                </a:solidFill>
              </a:rPr>
              <a:t>, Яндекс)</a:t>
            </a:r>
            <a:endParaRPr lang="ru-RU"/>
          </a:p>
          <a:p>
            <a:pPr algn="ctr"/>
            <a:endParaRPr lang="ru-RU"/>
          </a:p>
        </p:txBody>
      </p:sp>
      <p:sp>
        <p:nvSpPr>
          <p:cNvPr id="20530" name="Rectangle 50"/>
          <p:cNvSpPr>
            <a:spLocks noChangeArrowheads="1"/>
          </p:cNvSpPr>
          <p:nvPr/>
        </p:nvSpPr>
        <p:spPr bwMode="auto">
          <a:xfrm>
            <a:off x="1835150" y="3219450"/>
            <a:ext cx="4392613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t"/>
            <a:r>
              <a:rPr lang="ru-RU" b="1">
                <a:solidFill>
                  <a:srgbClr val="F1F5F9"/>
                </a:solidFill>
              </a:rPr>
              <a:t>Функциональное тестирование: </a:t>
            </a:r>
          </a:p>
          <a:p>
            <a:pPr algn="ctr" fontAlgn="t"/>
            <a:r>
              <a:rPr lang="ru-RU" b="1">
                <a:solidFill>
                  <a:srgbClr val="F1F5F9"/>
                </a:solidFill>
              </a:rPr>
              <a:t>проверка поля поиска заказа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hape"/>
          <p:cNvSpPr txBox="1">
            <a:spLocks noChangeArrowheads="1"/>
          </p:cNvSpPr>
          <p:nvPr/>
        </p:nvSpPr>
        <p:spPr bwMode="auto">
          <a:xfrm>
            <a:off x="466725" y="466725"/>
            <a:ext cx="60864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3500" b="1">
                <a:solidFill>
                  <a:srgbClr val="F1F5F9"/>
                </a:solidFill>
                <a:latin typeface="Inter"/>
              </a:rPr>
              <a:t>Автотесты и Allure-отчет</a:t>
            </a:r>
          </a:p>
        </p:txBody>
      </p:sp>
      <p:pic>
        <p:nvPicPr>
          <p:cNvPr id="28680" name="Picture 8" descr="2026-09-05_22-03-4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92725" y="1419225"/>
            <a:ext cx="3287713" cy="3132138"/>
          </a:xfrm>
          <a:prstGeom prst="rect">
            <a:avLst/>
          </a:prstGeom>
          <a:noFill/>
        </p:spPr>
      </p:pic>
      <p:pic>
        <p:nvPicPr>
          <p:cNvPr id="28681" name="Picture 9" descr="2026-09-05_22-04-3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213" y="1347788"/>
            <a:ext cx="3816350" cy="36052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"/>
          <p:cNvSpPr txBox="1">
            <a:spLocks noChangeArrowheads="1"/>
          </p:cNvSpPr>
          <p:nvPr/>
        </p:nvSpPr>
        <p:spPr bwMode="auto">
          <a:xfrm>
            <a:off x="466725" y="466725"/>
            <a:ext cx="80660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t"/>
            <a:r>
              <a:rPr lang="en-US" sz="2300" b="1">
                <a:solidFill>
                  <a:srgbClr val="F1F5F9"/>
                </a:solidFill>
                <a:latin typeface="Inter"/>
              </a:rPr>
              <a:t>Пример баг-репорта:</a:t>
            </a:r>
            <a:r>
              <a:rPr lang="ru-RU" sz="2300" b="1">
                <a:solidFill>
                  <a:srgbClr val="F1F5F9"/>
                </a:solidFill>
                <a:latin typeface="Inter"/>
              </a:rPr>
              <a:t> поиск товара </a:t>
            </a:r>
          </a:p>
          <a:p>
            <a:pPr fontAlgn="t"/>
            <a:endParaRPr lang="en-US" sz="2300" b="1">
              <a:solidFill>
                <a:srgbClr val="F1F5F9"/>
              </a:solidFill>
              <a:latin typeface="Inter"/>
            </a:endParaRPr>
          </a:p>
        </p:txBody>
      </p:sp>
      <p:pic>
        <p:nvPicPr>
          <p:cNvPr id="22533" name="Picture 5" descr="2026-09-06_10-25-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6825" y="1276350"/>
            <a:ext cx="3514725" cy="2781300"/>
          </a:xfrm>
          <a:prstGeom prst="rect">
            <a:avLst/>
          </a:prstGeom>
          <a:noFill/>
        </p:spPr>
      </p:pic>
      <p:pic>
        <p:nvPicPr>
          <p:cNvPr id="22534" name="Picture 6" descr="2026-09-06_10-33-3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213" y="1563688"/>
            <a:ext cx="3887787" cy="1689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hape"/>
          <p:cNvSpPr txBox="1">
            <a:spLocks noChangeArrowheads="1"/>
          </p:cNvSpPr>
          <p:nvPr/>
        </p:nvSpPr>
        <p:spPr bwMode="auto">
          <a:xfrm>
            <a:off x="3419475" y="700088"/>
            <a:ext cx="1944688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ru-RU" sz="3200" b="1">
                <a:solidFill>
                  <a:schemeClr val="bg1"/>
                </a:solidFill>
                <a:sym typeface="DM Serif Display" charset="-52"/>
              </a:rPr>
              <a:t>Выводы:</a:t>
            </a:r>
            <a:endParaRPr lang="en-US" sz="3200" b="1">
              <a:solidFill>
                <a:schemeClr val="bg1"/>
              </a:solidFill>
              <a:sym typeface="DM Serif Display" charset="-52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23850" y="1563688"/>
            <a:ext cx="85693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ru-RU">
                <a:solidFill>
                  <a:schemeClr val="bg1"/>
                </a:solidFill>
                <a:sym typeface="DM Sans" charset="0"/>
              </a:rPr>
              <a:t>В рамках дипломной работы было установлено, что сайт выполняет поставленные задачи и обладает высокой функциональной стабильностью. Разработанная дизайн-система и продуманный UX обеспечивают интуитивно понятное взаимодействие и выделяет сервис за счет уникального функционала и прозрачных условий работы.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hape"/>
          <p:cNvSpPr txBox="1">
            <a:spLocks noChangeArrowheads="1"/>
          </p:cNvSpPr>
          <p:nvPr/>
        </p:nvSpPr>
        <p:spPr bwMode="auto">
          <a:xfrm>
            <a:off x="2847975" y="1590675"/>
            <a:ext cx="38004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fontAlgn="ctr"/>
            <a:r>
              <a:rPr lang="en-US" sz="2700" b="1">
                <a:solidFill>
                  <a:srgbClr val="F1F5F9"/>
                </a:solidFill>
                <a:latin typeface="Inter"/>
              </a:rPr>
              <a:t>Спасибо за внимание</a:t>
            </a:r>
          </a:p>
        </p:txBody>
      </p:sp>
      <p:sp>
        <p:nvSpPr>
          <p:cNvPr id="32771" name="Shape"/>
          <p:cNvSpPr txBox="1">
            <a:spLocks noChangeArrowheads="1"/>
          </p:cNvSpPr>
          <p:nvPr/>
        </p:nvSpPr>
        <p:spPr bwMode="auto">
          <a:xfrm>
            <a:off x="2847975" y="2947988"/>
            <a:ext cx="38004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fontAlgn="ctr"/>
            <a:r>
              <a:rPr lang="ru-RU" sz="1300">
                <a:solidFill>
                  <a:srgbClr val="F1F5F9"/>
                </a:solidFill>
                <a:latin typeface="Inter"/>
              </a:rPr>
              <a:t>Овсянников Артём</a:t>
            </a:r>
            <a:endParaRPr lang="en-US" sz="1300">
              <a:solidFill>
                <a:srgbClr val="F1F5F9"/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36">
  <a:themeElements>
    <a:clrScheme name="Theme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4493</TotalTime>
  <Words>391</Words>
  <PresentationFormat>Экран (16:9)</PresentationFormat>
  <Paragraphs>71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Шаблон оформления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DM Serif Display</vt:lpstr>
      <vt:lpstr>DM Sans</vt:lpstr>
      <vt:lpstr>Theme36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cp:lastModifiedBy>User</cp:lastModifiedBy>
  <cp:revision>13</cp:revision>
  <dcterms:modified xsi:type="dcterms:W3CDTF">2026-09-08T12:57:51Z</dcterms:modified>
</cp:coreProperties>
</file>